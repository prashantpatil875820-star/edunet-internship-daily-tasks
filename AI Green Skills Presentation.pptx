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tableStyles" Target="tableStyles.xml" /><Relationship Id="rId5" Type="http://schemas.openxmlformats.org/officeDocument/2006/relationships/slide" Target="slides/slide4.xml" /><Relationship Id="rId10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theme" Target="../theme/theme1.xml" /><Relationship Id="rId5" Type="http://schemas.openxmlformats.org/officeDocument/2006/relationships/slideLayout" Target="../slideLayouts/slideLayout5.xml" /><Relationship Id="rId4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27100" y="461010"/>
            <a:ext cx="7289800" cy="701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6575" y="1222374"/>
            <a:ext cx="8065134" cy="47291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4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 /><Relationship Id="rId2" Type="http://schemas.openxmlformats.org/officeDocument/2006/relationships/image" Target="../media/image2.jp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65555" y="2147188"/>
            <a:ext cx="6614159" cy="1368425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2728595" marR="5080" indent="-2716530">
              <a:lnSpc>
                <a:spcPts val="5260"/>
              </a:lnSpc>
              <a:spcBef>
                <a:spcPts val="254"/>
              </a:spcBef>
            </a:pPr>
            <a:r>
              <a:rPr dirty="0">
                <a:solidFill>
                  <a:srgbClr val="006FC0"/>
                </a:solidFill>
              </a:rPr>
              <a:t>AI</a:t>
            </a:r>
            <a:r>
              <a:rPr spc="-70" dirty="0">
                <a:solidFill>
                  <a:srgbClr val="006FC0"/>
                </a:solidFill>
              </a:rPr>
              <a:t> </a:t>
            </a:r>
            <a:r>
              <a:rPr dirty="0">
                <a:solidFill>
                  <a:srgbClr val="006FC0"/>
                </a:solidFill>
              </a:rPr>
              <a:t>for</a:t>
            </a:r>
            <a:r>
              <a:rPr spc="-80" dirty="0">
                <a:solidFill>
                  <a:srgbClr val="006FC0"/>
                </a:solidFill>
              </a:rPr>
              <a:t> </a:t>
            </a:r>
            <a:r>
              <a:rPr spc="-10" dirty="0">
                <a:solidFill>
                  <a:srgbClr val="006FC0"/>
                </a:solidFill>
              </a:rPr>
              <a:t>Sustainability</a:t>
            </a:r>
            <a:r>
              <a:rPr spc="-75" dirty="0">
                <a:solidFill>
                  <a:srgbClr val="006FC0"/>
                </a:solidFill>
              </a:rPr>
              <a:t> </a:t>
            </a:r>
            <a:r>
              <a:rPr dirty="0">
                <a:solidFill>
                  <a:srgbClr val="006FC0"/>
                </a:solidFill>
              </a:rPr>
              <a:t>&amp;</a:t>
            </a:r>
            <a:r>
              <a:rPr spc="-50" dirty="0">
                <a:solidFill>
                  <a:srgbClr val="006FC0"/>
                </a:solidFill>
              </a:rPr>
              <a:t> </a:t>
            </a:r>
            <a:r>
              <a:rPr spc="-10" dirty="0">
                <a:solidFill>
                  <a:srgbClr val="006FC0"/>
                </a:solidFill>
              </a:rPr>
              <a:t>Green Skills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019" y="3806571"/>
            <a:ext cx="4526280" cy="236220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indent="-1270" algn="ctr">
              <a:lnSpc>
                <a:spcPct val="120300"/>
              </a:lnSpc>
              <a:spcBef>
                <a:spcPts val="55"/>
              </a:spcBef>
            </a:pPr>
            <a:r>
              <a:rPr sz="3200" dirty="0">
                <a:solidFill>
                  <a:srgbClr val="888888"/>
                </a:solidFill>
                <a:latin typeface="Calibri"/>
                <a:cs typeface="Calibri"/>
              </a:rPr>
              <a:t>Name:</a:t>
            </a:r>
            <a:r>
              <a:rPr sz="3200" spc="-3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888888"/>
                </a:solidFill>
                <a:latin typeface="Calibri"/>
                <a:cs typeface="Calibri"/>
              </a:rPr>
              <a:t>Prashant</a:t>
            </a:r>
            <a:r>
              <a:rPr sz="3200" spc="-9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888888"/>
                </a:solidFill>
                <a:latin typeface="Calibri"/>
                <a:cs typeface="Calibri"/>
              </a:rPr>
              <a:t>Patil </a:t>
            </a:r>
            <a:r>
              <a:rPr sz="3200" dirty="0">
                <a:solidFill>
                  <a:srgbClr val="888888"/>
                </a:solidFill>
                <a:latin typeface="Calibri"/>
                <a:cs typeface="Calibri"/>
              </a:rPr>
              <a:t>Enrollment:</a:t>
            </a:r>
            <a:r>
              <a:rPr sz="3200" spc="-18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888888"/>
                </a:solidFill>
                <a:latin typeface="Calibri"/>
                <a:cs typeface="Calibri"/>
              </a:rPr>
              <a:t>230490131086 </a:t>
            </a:r>
            <a:r>
              <a:rPr sz="3200" dirty="0">
                <a:solidFill>
                  <a:srgbClr val="888888"/>
                </a:solidFill>
                <a:latin typeface="Calibri"/>
                <a:cs typeface="Calibri"/>
              </a:rPr>
              <a:t>Stream:</a:t>
            </a:r>
            <a:r>
              <a:rPr sz="3200" spc="-7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888888"/>
                </a:solidFill>
                <a:latin typeface="Calibri"/>
                <a:cs typeface="Calibri"/>
              </a:rPr>
              <a:t>B.E.</a:t>
            </a:r>
            <a:r>
              <a:rPr sz="3200" spc="-3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3200" spc="-25" dirty="0">
                <a:solidFill>
                  <a:srgbClr val="888888"/>
                </a:solidFill>
                <a:latin typeface="Calibri"/>
                <a:cs typeface="Calibri"/>
              </a:rPr>
              <a:t>CSE</a:t>
            </a:r>
            <a:endParaRPr sz="3200">
              <a:latin typeface="Calibri"/>
              <a:cs typeface="Calibri"/>
            </a:endParaRPr>
          </a:p>
          <a:p>
            <a:pPr marL="1270" algn="ctr">
              <a:lnSpc>
                <a:spcPct val="100000"/>
              </a:lnSpc>
              <a:spcBef>
                <a:spcPts val="740"/>
              </a:spcBef>
            </a:pPr>
            <a:r>
              <a:rPr sz="3200" dirty="0">
                <a:solidFill>
                  <a:srgbClr val="888888"/>
                </a:solidFill>
                <a:latin typeface="Calibri"/>
                <a:cs typeface="Calibri"/>
              </a:rPr>
              <a:t>College:</a:t>
            </a:r>
            <a:r>
              <a:rPr sz="3200" spc="-12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3200" spc="-20" dirty="0">
                <a:solidFill>
                  <a:srgbClr val="888888"/>
                </a:solidFill>
                <a:latin typeface="Calibri"/>
                <a:cs typeface="Calibri"/>
              </a:rPr>
              <a:t>SNPIT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873885">
              <a:lnSpc>
                <a:spcPct val="100000"/>
              </a:lnSpc>
              <a:spcBef>
                <a:spcPts val="130"/>
              </a:spcBef>
            </a:pPr>
            <a:r>
              <a:rPr dirty="0">
                <a:solidFill>
                  <a:srgbClr val="006FC0"/>
                </a:solidFill>
              </a:rPr>
              <a:t>What</a:t>
            </a:r>
            <a:r>
              <a:rPr spc="-40" dirty="0">
                <a:solidFill>
                  <a:srgbClr val="006FC0"/>
                </a:solidFill>
              </a:rPr>
              <a:t> </a:t>
            </a:r>
            <a:r>
              <a:rPr dirty="0">
                <a:solidFill>
                  <a:srgbClr val="006FC0"/>
                </a:solidFill>
              </a:rPr>
              <a:t>I</a:t>
            </a:r>
            <a:r>
              <a:rPr spc="-50" dirty="0">
                <a:solidFill>
                  <a:srgbClr val="006FC0"/>
                </a:solidFill>
              </a:rPr>
              <a:t> </a:t>
            </a:r>
            <a:r>
              <a:rPr spc="-10" dirty="0">
                <a:solidFill>
                  <a:srgbClr val="006FC0"/>
                </a:solidFill>
              </a:rPr>
              <a:t>Learned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9144" y="1595741"/>
            <a:ext cx="7817307" cy="47231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130"/>
              </a:spcBef>
            </a:pPr>
            <a:r>
              <a:rPr dirty="0">
                <a:solidFill>
                  <a:srgbClr val="006FC0"/>
                </a:solidFill>
              </a:rPr>
              <a:t>Learning</a:t>
            </a:r>
            <a:r>
              <a:rPr spc="-114" dirty="0">
                <a:solidFill>
                  <a:srgbClr val="006FC0"/>
                </a:solidFill>
              </a:rPr>
              <a:t> </a:t>
            </a:r>
            <a:r>
              <a:rPr dirty="0">
                <a:solidFill>
                  <a:srgbClr val="006FC0"/>
                </a:solidFill>
              </a:rPr>
              <a:t>From</a:t>
            </a:r>
            <a:r>
              <a:rPr spc="-110" dirty="0">
                <a:solidFill>
                  <a:srgbClr val="006FC0"/>
                </a:solidFill>
              </a:rPr>
              <a:t> </a:t>
            </a:r>
            <a:r>
              <a:rPr dirty="0">
                <a:solidFill>
                  <a:srgbClr val="006FC0"/>
                </a:solidFill>
              </a:rPr>
              <a:t>Given</a:t>
            </a:r>
            <a:r>
              <a:rPr spc="-95" dirty="0">
                <a:solidFill>
                  <a:srgbClr val="006FC0"/>
                </a:solidFill>
              </a:rPr>
              <a:t> </a:t>
            </a:r>
            <a:r>
              <a:rPr spc="-10" dirty="0">
                <a:solidFill>
                  <a:srgbClr val="006FC0"/>
                </a:solidFill>
              </a:rPr>
              <a:t>Resources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55600" marR="139700" indent="-343535">
              <a:lnSpc>
                <a:spcPts val="2930"/>
              </a:lnSpc>
              <a:spcBef>
                <a:spcPts val="459"/>
              </a:spcBef>
              <a:buFont typeface="Arial MT"/>
              <a:buChar char="•"/>
              <a:tabLst>
                <a:tab pos="355600" algn="l"/>
              </a:tabLst>
            </a:pPr>
            <a:r>
              <a:rPr sz="2700" dirty="0"/>
              <a:t>Data</a:t>
            </a:r>
            <a:r>
              <a:rPr sz="2700" spc="-105" dirty="0"/>
              <a:t> </a:t>
            </a:r>
            <a:r>
              <a:rPr sz="2700" spc="-10" dirty="0"/>
              <a:t>centres</a:t>
            </a:r>
            <a:r>
              <a:rPr sz="2700" spc="-85" dirty="0"/>
              <a:t> </a:t>
            </a:r>
            <a:r>
              <a:rPr sz="2700" dirty="0"/>
              <a:t>consume</a:t>
            </a:r>
            <a:r>
              <a:rPr sz="2700" spc="-80" dirty="0"/>
              <a:t> </a:t>
            </a:r>
            <a:r>
              <a:rPr sz="2700" dirty="0"/>
              <a:t>large</a:t>
            </a:r>
            <a:r>
              <a:rPr sz="2700" spc="-65" dirty="0"/>
              <a:t> </a:t>
            </a:r>
            <a:r>
              <a:rPr sz="2700" dirty="0"/>
              <a:t>amounts</a:t>
            </a:r>
            <a:r>
              <a:rPr sz="2700" spc="-95" dirty="0"/>
              <a:t> </a:t>
            </a:r>
            <a:r>
              <a:rPr sz="2700" dirty="0"/>
              <a:t>of</a:t>
            </a:r>
            <a:r>
              <a:rPr sz="2700" spc="-15" dirty="0"/>
              <a:t> </a:t>
            </a:r>
            <a:r>
              <a:rPr sz="2700" dirty="0"/>
              <a:t>electricity</a:t>
            </a:r>
            <a:r>
              <a:rPr sz="2700" spc="-40" dirty="0"/>
              <a:t> </a:t>
            </a:r>
            <a:r>
              <a:rPr sz="2700" spc="-25" dirty="0"/>
              <a:t>and </a:t>
            </a:r>
            <a:r>
              <a:rPr sz="2700" spc="-10" dirty="0"/>
              <a:t>water.</a:t>
            </a:r>
            <a:endParaRPr sz="2700"/>
          </a:p>
          <a:p>
            <a:pPr marL="355600" marR="1241425" indent="-343535">
              <a:lnSpc>
                <a:spcPts val="2930"/>
              </a:lnSpc>
              <a:spcBef>
                <a:spcPts val="675"/>
              </a:spcBef>
              <a:buFont typeface="Arial MT"/>
              <a:buChar char="•"/>
              <a:tabLst>
                <a:tab pos="355600" algn="l"/>
              </a:tabLst>
            </a:pPr>
            <a:r>
              <a:rPr sz="2700" dirty="0"/>
              <a:t>Carbon</a:t>
            </a:r>
            <a:r>
              <a:rPr sz="2700" spc="-60" dirty="0"/>
              <a:t> </a:t>
            </a:r>
            <a:r>
              <a:rPr sz="2700" spc="-10" dirty="0"/>
              <a:t>footprint</a:t>
            </a:r>
            <a:r>
              <a:rPr sz="2700" spc="-70" dirty="0"/>
              <a:t> </a:t>
            </a:r>
            <a:r>
              <a:rPr sz="2700" spc="-10" dirty="0"/>
              <a:t>calculators</a:t>
            </a:r>
            <a:r>
              <a:rPr sz="2700" spc="-70" dirty="0"/>
              <a:t> </a:t>
            </a:r>
            <a:r>
              <a:rPr sz="2700" dirty="0"/>
              <a:t>help</a:t>
            </a:r>
            <a:r>
              <a:rPr sz="2700" spc="-55" dirty="0"/>
              <a:t> </a:t>
            </a:r>
            <a:r>
              <a:rPr sz="2700" dirty="0"/>
              <a:t>measure</a:t>
            </a:r>
            <a:r>
              <a:rPr sz="2700" spc="-50" dirty="0"/>
              <a:t> </a:t>
            </a:r>
            <a:r>
              <a:rPr sz="2700" spc="-25" dirty="0"/>
              <a:t>CO₂ </a:t>
            </a:r>
            <a:r>
              <a:rPr sz="2700" spc="-10" dirty="0"/>
              <a:t>emissions.</a:t>
            </a:r>
            <a:endParaRPr sz="2700"/>
          </a:p>
          <a:p>
            <a:pPr marL="355600" indent="-342900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355600" algn="l"/>
              </a:tabLst>
            </a:pPr>
            <a:r>
              <a:rPr sz="2700" spc="-20" dirty="0"/>
              <a:t>Transport</a:t>
            </a:r>
            <a:r>
              <a:rPr sz="2700" spc="-55" dirty="0"/>
              <a:t> </a:t>
            </a:r>
            <a:r>
              <a:rPr sz="2700" dirty="0"/>
              <a:t>choices</a:t>
            </a:r>
            <a:r>
              <a:rPr sz="2700" spc="-120" dirty="0"/>
              <a:t> </a:t>
            </a:r>
            <a:r>
              <a:rPr sz="2700" dirty="0"/>
              <a:t>affect</a:t>
            </a:r>
            <a:r>
              <a:rPr sz="2700" spc="-114" dirty="0"/>
              <a:t> </a:t>
            </a:r>
            <a:r>
              <a:rPr sz="2700" dirty="0"/>
              <a:t>greenhouse</a:t>
            </a:r>
            <a:r>
              <a:rPr sz="2700" spc="-114" dirty="0"/>
              <a:t> </a:t>
            </a:r>
            <a:r>
              <a:rPr sz="2700" dirty="0"/>
              <a:t>gas</a:t>
            </a:r>
            <a:r>
              <a:rPr sz="2700" spc="-114" dirty="0"/>
              <a:t> </a:t>
            </a:r>
            <a:r>
              <a:rPr sz="2700" spc="-10" dirty="0"/>
              <a:t>emissions.</a:t>
            </a:r>
            <a:endParaRPr sz="2700"/>
          </a:p>
          <a:p>
            <a:pPr marL="355600" indent="-342900">
              <a:lnSpc>
                <a:spcPct val="100000"/>
              </a:lnSpc>
              <a:spcBef>
                <a:spcPts val="365"/>
              </a:spcBef>
              <a:buFont typeface="Arial MT"/>
              <a:buChar char="•"/>
              <a:tabLst>
                <a:tab pos="355600" algn="l"/>
              </a:tabLst>
            </a:pPr>
            <a:r>
              <a:rPr sz="2700" dirty="0"/>
              <a:t>AI</a:t>
            </a:r>
            <a:r>
              <a:rPr sz="2700" spc="-100" dirty="0"/>
              <a:t> </a:t>
            </a:r>
            <a:r>
              <a:rPr sz="2700" dirty="0"/>
              <a:t>can</a:t>
            </a:r>
            <a:r>
              <a:rPr sz="2700" spc="-80" dirty="0"/>
              <a:t> </a:t>
            </a:r>
            <a:r>
              <a:rPr sz="2700" dirty="0"/>
              <a:t>improve</a:t>
            </a:r>
            <a:r>
              <a:rPr sz="2700" spc="-90" dirty="0"/>
              <a:t> </a:t>
            </a:r>
            <a:r>
              <a:rPr sz="2700" spc="-10" dirty="0"/>
              <a:t>waste</a:t>
            </a:r>
            <a:r>
              <a:rPr sz="2700" spc="-85" dirty="0"/>
              <a:t> </a:t>
            </a:r>
            <a:r>
              <a:rPr sz="2700" dirty="0"/>
              <a:t>management</a:t>
            </a:r>
            <a:r>
              <a:rPr sz="2700" spc="-95" dirty="0"/>
              <a:t> </a:t>
            </a:r>
            <a:r>
              <a:rPr sz="2700" dirty="0"/>
              <a:t>through</a:t>
            </a:r>
            <a:r>
              <a:rPr sz="2700" spc="-85" dirty="0"/>
              <a:t> </a:t>
            </a:r>
            <a:r>
              <a:rPr sz="2700" dirty="0"/>
              <a:t>smart</a:t>
            </a:r>
            <a:r>
              <a:rPr sz="2700" spc="-30" dirty="0"/>
              <a:t> </a:t>
            </a:r>
            <a:r>
              <a:rPr sz="2700" spc="-10" dirty="0"/>
              <a:t>bins.</a:t>
            </a:r>
            <a:endParaRPr sz="2700"/>
          </a:p>
          <a:p>
            <a:pPr marL="355600" marR="548005" indent="-343535">
              <a:lnSpc>
                <a:spcPts val="2930"/>
              </a:lnSpc>
              <a:spcBef>
                <a:spcPts val="645"/>
              </a:spcBef>
              <a:buFont typeface="Arial MT"/>
              <a:buChar char="•"/>
              <a:tabLst>
                <a:tab pos="355600" algn="l"/>
              </a:tabLst>
            </a:pPr>
            <a:r>
              <a:rPr sz="2700" dirty="0"/>
              <a:t>Green</a:t>
            </a:r>
            <a:r>
              <a:rPr sz="2700" spc="-75" dirty="0"/>
              <a:t> </a:t>
            </a:r>
            <a:r>
              <a:rPr sz="2700" dirty="0"/>
              <a:t>skills</a:t>
            </a:r>
            <a:r>
              <a:rPr sz="2700" spc="-90" dirty="0"/>
              <a:t> </a:t>
            </a:r>
            <a:r>
              <a:rPr sz="2700" dirty="0"/>
              <a:t>are</a:t>
            </a:r>
            <a:r>
              <a:rPr sz="2700" spc="-80" dirty="0"/>
              <a:t> </a:t>
            </a:r>
            <a:r>
              <a:rPr sz="2700" dirty="0"/>
              <a:t>important</a:t>
            </a:r>
            <a:r>
              <a:rPr sz="2700" spc="-80" dirty="0"/>
              <a:t> </a:t>
            </a:r>
            <a:r>
              <a:rPr sz="2700" dirty="0"/>
              <a:t>for</a:t>
            </a:r>
            <a:r>
              <a:rPr sz="2700" spc="-60" dirty="0"/>
              <a:t> </a:t>
            </a:r>
            <a:r>
              <a:rPr sz="2700" dirty="0"/>
              <a:t>creating</a:t>
            </a:r>
            <a:r>
              <a:rPr sz="2700" spc="-70" dirty="0"/>
              <a:t> </a:t>
            </a:r>
            <a:r>
              <a:rPr sz="2700" dirty="0"/>
              <a:t>a</a:t>
            </a:r>
            <a:r>
              <a:rPr sz="2700" spc="-105" dirty="0"/>
              <a:t> </a:t>
            </a:r>
            <a:r>
              <a:rPr sz="2700" spc="-10" dirty="0"/>
              <a:t>sustainable future.</a:t>
            </a:r>
            <a:endParaRPr sz="2700"/>
          </a:p>
          <a:p>
            <a:pPr marL="355600" marR="782955" indent="-343535">
              <a:lnSpc>
                <a:spcPts val="2930"/>
              </a:lnSpc>
              <a:spcBef>
                <a:spcPts val="675"/>
              </a:spcBef>
              <a:buFont typeface="Arial MT"/>
              <a:buChar char="•"/>
              <a:tabLst>
                <a:tab pos="355600" algn="l"/>
              </a:tabLst>
            </a:pPr>
            <a:r>
              <a:rPr sz="2700" dirty="0"/>
              <a:t>SDG</a:t>
            </a:r>
            <a:r>
              <a:rPr sz="2700" spc="-45" dirty="0"/>
              <a:t> </a:t>
            </a:r>
            <a:r>
              <a:rPr sz="2700" dirty="0"/>
              <a:t>17</a:t>
            </a:r>
            <a:r>
              <a:rPr sz="2700" spc="-75" dirty="0"/>
              <a:t> </a:t>
            </a:r>
            <a:r>
              <a:rPr sz="2700" spc="-10" dirty="0"/>
              <a:t>encourages</a:t>
            </a:r>
            <a:r>
              <a:rPr sz="2700" spc="-65" dirty="0"/>
              <a:t> </a:t>
            </a:r>
            <a:r>
              <a:rPr sz="2700" dirty="0"/>
              <a:t>partnerships</a:t>
            </a:r>
            <a:r>
              <a:rPr sz="2700" spc="-60" dirty="0"/>
              <a:t> </a:t>
            </a:r>
            <a:r>
              <a:rPr sz="2700" dirty="0"/>
              <a:t>to</a:t>
            </a:r>
            <a:r>
              <a:rPr sz="2700" spc="-70" dirty="0"/>
              <a:t> </a:t>
            </a:r>
            <a:r>
              <a:rPr sz="2700" dirty="0"/>
              <a:t>achieve</a:t>
            </a:r>
            <a:r>
              <a:rPr sz="2700" spc="-45" dirty="0"/>
              <a:t> </a:t>
            </a:r>
            <a:r>
              <a:rPr sz="2700" spc="-10" dirty="0"/>
              <a:t>global </a:t>
            </a:r>
            <a:r>
              <a:rPr sz="2700" dirty="0"/>
              <a:t>sustainability</a:t>
            </a:r>
            <a:r>
              <a:rPr sz="2700" spc="-145" dirty="0"/>
              <a:t> </a:t>
            </a:r>
            <a:r>
              <a:rPr sz="2700" spc="-20" dirty="0"/>
              <a:t>goals</a:t>
            </a:r>
            <a:endParaRPr sz="2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579370">
              <a:lnSpc>
                <a:spcPct val="100000"/>
              </a:lnSpc>
              <a:spcBef>
                <a:spcPts val="130"/>
              </a:spcBef>
            </a:pPr>
            <a:r>
              <a:rPr spc="-10" dirty="0">
                <a:solidFill>
                  <a:srgbClr val="006FC0"/>
                </a:solidFill>
              </a:rPr>
              <a:t>Activities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575" y="1616392"/>
            <a:ext cx="4640580" cy="1368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12090" indent="-199390">
              <a:lnSpc>
                <a:spcPct val="100000"/>
              </a:lnSpc>
              <a:spcBef>
                <a:spcPts val="125"/>
              </a:spcBef>
              <a:buChar char="•"/>
              <a:tabLst>
                <a:tab pos="212090" algn="l"/>
              </a:tabLst>
            </a:pPr>
            <a:r>
              <a:rPr sz="2150" dirty="0">
                <a:latin typeface="Calibri"/>
                <a:cs typeface="Calibri"/>
              </a:rPr>
              <a:t>Explored</a:t>
            </a:r>
            <a:r>
              <a:rPr sz="2150" spc="5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ecological</a:t>
            </a:r>
            <a:r>
              <a:rPr sz="2150" spc="9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footprint</a:t>
            </a:r>
            <a:r>
              <a:rPr sz="2150" spc="8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calculator</a:t>
            </a:r>
            <a:endParaRPr sz="2150">
              <a:latin typeface="Calibri"/>
              <a:cs typeface="Calibri"/>
            </a:endParaRPr>
          </a:p>
          <a:p>
            <a:pPr marL="212090" indent="-199390">
              <a:lnSpc>
                <a:spcPct val="100000"/>
              </a:lnSpc>
              <a:spcBef>
                <a:spcPts val="125"/>
              </a:spcBef>
              <a:buChar char="•"/>
              <a:tabLst>
                <a:tab pos="212090" algn="l"/>
              </a:tabLst>
            </a:pPr>
            <a:r>
              <a:rPr sz="2150" dirty="0">
                <a:latin typeface="Calibri"/>
                <a:cs typeface="Calibri"/>
              </a:rPr>
              <a:t>Carbon</a:t>
            </a:r>
            <a:r>
              <a:rPr sz="2150" spc="10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calculator</a:t>
            </a:r>
            <a:endParaRPr sz="2150">
              <a:latin typeface="Calibri"/>
              <a:cs typeface="Calibri"/>
            </a:endParaRPr>
          </a:p>
          <a:p>
            <a:pPr marL="215265" indent="-202565">
              <a:lnSpc>
                <a:spcPct val="100000"/>
              </a:lnSpc>
              <a:spcBef>
                <a:spcPts val="50"/>
              </a:spcBef>
              <a:buChar char="•"/>
              <a:tabLst>
                <a:tab pos="215265" algn="l"/>
              </a:tabLst>
            </a:pPr>
            <a:r>
              <a:rPr sz="2150" dirty="0">
                <a:latin typeface="Calibri"/>
                <a:cs typeface="Calibri"/>
              </a:rPr>
              <a:t>EcoTransit</a:t>
            </a:r>
            <a:r>
              <a:rPr sz="2150" spc="3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emission</a:t>
            </a:r>
            <a:r>
              <a:rPr sz="2150" spc="4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calculator</a:t>
            </a:r>
            <a:endParaRPr sz="2150">
              <a:latin typeface="Calibri"/>
              <a:cs typeface="Calibri"/>
            </a:endParaRPr>
          </a:p>
          <a:p>
            <a:pPr marL="212090" indent="-199390">
              <a:lnSpc>
                <a:spcPct val="100000"/>
              </a:lnSpc>
              <a:spcBef>
                <a:spcPts val="50"/>
              </a:spcBef>
              <a:buChar char="•"/>
              <a:tabLst>
                <a:tab pos="212090" algn="l"/>
              </a:tabLst>
            </a:pPr>
            <a:r>
              <a:rPr sz="2150" dirty="0">
                <a:latin typeface="Calibri"/>
                <a:cs typeface="Calibri"/>
              </a:rPr>
              <a:t>MIT</a:t>
            </a:r>
            <a:r>
              <a:rPr sz="2150" spc="11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En-ROADS</a:t>
            </a:r>
            <a:r>
              <a:rPr sz="2150" spc="12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simulator</a:t>
            </a:r>
            <a:endParaRPr sz="215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0550" y="3190875"/>
            <a:ext cx="3981450" cy="33909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24550" y="1190625"/>
            <a:ext cx="2400300" cy="527032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489710">
              <a:lnSpc>
                <a:spcPct val="100000"/>
              </a:lnSpc>
              <a:spcBef>
                <a:spcPts val="130"/>
              </a:spcBef>
            </a:pPr>
            <a:r>
              <a:rPr dirty="0">
                <a:solidFill>
                  <a:srgbClr val="000000"/>
                </a:solidFill>
              </a:rPr>
              <a:t>Green</a:t>
            </a:r>
            <a:r>
              <a:rPr spc="-1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Skilling</a:t>
            </a:r>
            <a:r>
              <a:rPr spc="-7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&amp;</a:t>
            </a:r>
            <a:r>
              <a:rPr spc="-45" dirty="0">
                <a:solidFill>
                  <a:srgbClr val="000000"/>
                </a:solidFill>
              </a:rPr>
              <a:t> </a:t>
            </a:r>
            <a:r>
              <a:rPr spc="-25" dirty="0">
                <a:solidFill>
                  <a:srgbClr val="000000"/>
                </a:solidFill>
              </a:rPr>
              <a:t>AI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5274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b="1" dirty="0">
                <a:solidFill>
                  <a:srgbClr val="FF0000"/>
                </a:solidFill>
                <a:latin typeface="Calibri"/>
                <a:cs typeface="Calibri"/>
              </a:rPr>
              <a:t>Green</a:t>
            </a:r>
            <a:r>
              <a:rPr b="1" spc="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FF0000"/>
                </a:solidFill>
                <a:latin typeface="Calibri"/>
                <a:cs typeface="Calibri"/>
              </a:rPr>
              <a:t>Skilling</a:t>
            </a:r>
          </a:p>
          <a:p>
            <a:pPr marL="203200">
              <a:lnSpc>
                <a:spcPct val="100000"/>
              </a:lnSpc>
              <a:spcBef>
                <a:spcPts val="50"/>
              </a:spcBef>
            </a:pPr>
            <a:r>
              <a:rPr dirty="0"/>
              <a:t>Developing</a:t>
            </a:r>
            <a:r>
              <a:rPr spc="35" dirty="0"/>
              <a:t> </a:t>
            </a:r>
            <a:r>
              <a:rPr dirty="0"/>
              <a:t>skills</a:t>
            </a:r>
            <a:r>
              <a:rPr spc="65" dirty="0"/>
              <a:t> </a:t>
            </a:r>
            <a:r>
              <a:rPr dirty="0"/>
              <a:t>that</a:t>
            </a:r>
            <a:r>
              <a:rPr spc="35" dirty="0"/>
              <a:t> </a:t>
            </a:r>
            <a:r>
              <a:rPr dirty="0"/>
              <a:t>help</a:t>
            </a:r>
            <a:r>
              <a:rPr spc="80" dirty="0"/>
              <a:t> </a:t>
            </a:r>
            <a:r>
              <a:rPr dirty="0"/>
              <a:t>protect</a:t>
            </a:r>
            <a:r>
              <a:rPr spc="120" dirty="0"/>
              <a:t> </a:t>
            </a:r>
            <a:r>
              <a:rPr dirty="0"/>
              <a:t>the</a:t>
            </a:r>
            <a:r>
              <a:rPr spc="60" dirty="0"/>
              <a:t> </a:t>
            </a:r>
            <a:r>
              <a:rPr spc="-10" dirty="0"/>
              <a:t>environment.</a:t>
            </a: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b="1" spc="-10" dirty="0">
                <a:solidFill>
                  <a:srgbClr val="FF0000"/>
                </a:solidFill>
                <a:latin typeface="Calibri"/>
                <a:cs typeface="Calibri"/>
              </a:rPr>
              <a:t>Sustainability</a:t>
            </a:r>
          </a:p>
          <a:p>
            <a:pPr marL="203200">
              <a:lnSpc>
                <a:spcPct val="100000"/>
              </a:lnSpc>
              <a:spcBef>
                <a:spcPts val="45"/>
              </a:spcBef>
            </a:pPr>
            <a:r>
              <a:rPr dirty="0"/>
              <a:t>Using</a:t>
            </a:r>
            <a:r>
              <a:rPr spc="90" dirty="0"/>
              <a:t> </a:t>
            </a:r>
            <a:r>
              <a:rPr dirty="0"/>
              <a:t>resources</a:t>
            </a:r>
            <a:r>
              <a:rPr spc="130" dirty="0"/>
              <a:t> </a:t>
            </a:r>
            <a:r>
              <a:rPr dirty="0"/>
              <a:t>responsibly</a:t>
            </a:r>
            <a:r>
              <a:rPr spc="60" dirty="0"/>
              <a:t> </a:t>
            </a:r>
            <a:r>
              <a:rPr dirty="0"/>
              <a:t>to</a:t>
            </a:r>
            <a:r>
              <a:rPr spc="135" dirty="0"/>
              <a:t> </a:t>
            </a:r>
            <a:r>
              <a:rPr dirty="0"/>
              <a:t>meet</a:t>
            </a:r>
            <a:r>
              <a:rPr spc="95" dirty="0"/>
              <a:t> </a:t>
            </a:r>
            <a:r>
              <a:rPr dirty="0"/>
              <a:t>present</a:t>
            </a:r>
            <a:r>
              <a:rPr spc="20" dirty="0"/>
              <a:t> </a:t>
            </a:r>
            <a:r>
              <a:rPr dirty="0"/>
              <a:t>and</a:t>
            </a:r>
            <a:r>
              <a:rPr spc="55" dirty="0"/>
              <a:t> </a:t>
            </a:r>
            <a:r>
              <a:rPr dirty="0"/>
              <a:t>future</a:t>
            </a:r>
            <a:r>
              <a:rPr spc="45" dirty="0"/>
              <a:t> </a:t>
            </a:r>
            <a:r>
              <a:rPr spc="-10" dirty="0"/>
              <a:t>needs.</a:t>
            </a: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b="1" dirty="0">
                <a:solidFill>
                  <a:srgbClr val="FF0000"/>
                </a:solidFill>
                <a:latin typeface="Calibri"/>
                <a:cs typeface="Calibri"/>
              </a:rPr>
              <a:t>AI</a:t>
            </a:r>
            <a:r>
              <a:rPr b="1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FF0000"/>
                </a:solidFill>
                <a:latin typeface="Calibri"/>
                <a:cs typeface="Calibri"/>
              </a:rPr>
              <a:t>Benefits</a:t>
            </a:r>
          </a:p>
          <a:p>
            <a:pPr marL="203200">
              <a:lnSpc>
                <a:spcPct val="100000"/>
              </a:lnSpc>
              <a:spcBef>
                <a:spcPts val="50"/>
              </a:spcBef>
            </a:pPr>
            <a:r>
              <a:rPr dirty="0"/>
              <a:t>Smart</a:t>
            </a:r>
            <a:r>
              <a:rPr spc="65" dirty="0"/>
              <a:t> </a:t>
            </a:r>
            <a:r>
              <a:rPr dirty="0"/>
              <a:t>waste</a:t>
            </a:r>
            <a:r>
              <a:rPr spc="25" dirty="0"/>
              <a:t> </a:t>
            </a:r>
            <a:r>
              <a:rPr spc="-10" dirty="0"/>
              <a:t>segregation</a:t>
            </a:r>
          </a:p>
          <a:p>
            <a:pPr marL="203200">
              <a:lnSpc>
                <a:spcPct val="100000"/>
              </a:lnSpc>
              <a:spcBef>
                <a:spcPts val="50"/>
              </a:spcBef>
            </a:pPr>
            <a:r>
              <a:rPr dirty="0"/>
              <a:t>Energy</a:t>
            </a:r>
            <a:r>
              <a:rPr spc="85" dirty="0"/>
              <a:t> </a:t>
            </a:r>
            <a:r>
              <a:rPr spc="-10" dirty="0"/>
              <a:t>optimization</a:t>
            </a:r>
          </a:p>
          <a:p>
            <a:pPr marL="203200" marR="4790440">
              <a:lnSpc>
                <a:spcPct val="101899"/>
              </a:lnSpc>
              <a:spcBef>
                <a:spcPts val="70"/>
              </a:spcBef>
            </a:pPr>
            <a:r>
              <a:rPr dirty="0"/>
              <a:t>Pollution</a:t>
            </a:r>
            <a:r>
              <a:rPr spc="110" dirty="0"/>
              <a:t> </a:t>
            </a:r>
            <a:r>
              <a:rPr spc="-10" dirty="0"/>
              <a:t>monitoring </a:t>
            </a:r>
            <a:r>
              <a:rPr dirty="0"/>
              <a:t>Climate</a:t>
            </a:r>
            <a:r>
              <a:rPr spc="70" dirty="0"/>
              <a:t> </a:t>
            </a:r>
            <a:r>
              <a:rPr spc="-10" dirty="0"/>
              <a:t>prediction</a:t>
            </a: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b="1" spc="-10" dirty="0">
                <a:solidFill>
                  <a:srgbClr val="FF0000"/>
                </a:solidFill>
                <a:latin typeface="Calibri"/>
                <a:cs typeface="Calibri"/>
              </a:rPr>
              <a:t>Challenges</a:t>
            </a:r>
          </a:p>
          <a:p>
            <a:pPr marL="203200" marR="3276600">
              <a:lnSpc>
                <a:spcPct val="101899"/>
              </a:lnSpc>
            </a:pPr>
            <a:r>
              <a:rPr dirty="0"/>
              <a:t>High</a:t>
            </a:r>
            <a:r>
              <a:rPr spc="50" dirty="0"/>
              <a:t> </a:t>
            </a:r>
            <a:r>
              <a:rPr dirty="0"/>
              <a:t>energy</a:t>
            </a:r>
            <a:r>
              <a:rPr spc="65" dirty="0"/>
              <a:t> </a:t>
            </a:r>
            <a:r>
              <a:rPr dirty="0"/>
              <a:t>use</a:t>
            </a:r>
            <a:r>
              <a:rPr spc="35" dirty="0"/>
              <a:t> </a:t>
            </a:r>
            <a:r>
              <a:rPr dirty="0"/>
              <a:t>in</a:t>
            </a:r>
            <a:r>
              <a:rPr spc="50" dirty="0"/>
              <a:t> </a:t>
            </a:r>
            <a:r>
              <a:rPr dirty="0"/>
              <a:t>AI</a:t>
            </a:r>
            <a:r>
              <a:rPr spc="50" dirty="0"/>
              <a:t> </a:t>
            </a:r>
            <a:r>
              <a:rPr dirty="0"/>
              <a:t>data</a:t>
            </a:r>
            <a:r>
              <a:rPr spc="75" dirty="0"/>
              <a:t> </a:t>
            </a:r>
            <a:r>
              <a:rPr spc="-10" dirty="0"/>
              <a:t>centres </a:t>
            </a:r>
            <a:r>
              <a:rPr dirty="0"/>
              <a:t>Electronic</a:t>
            </a:r>
            <a:r>
              <a:rPr spc="75" dirty="0"/>
              <a:t> </a:t>
            </a:r>
            <a:r>
              <a:rPr spc="-10" dirty="0"/>
              <a:t>waste</a:t>
            </a:r>
          </a:p>
          <a:p>
            <a:pPr marL="203200">
              <a:lnSpc>
                <a:spcPct val="100000"/>
              </a:lnSpc>
              <a:spcBef>
                <a:spcPts val="125"/>
              </a:spcBef>
            </a:pPr>
            <a:r>
              <a:rPr dirty="0"/>
              <a:t>Carbon</a:t>
            </a:r>
            <a:r>
              <a:rPr spc="85" dirty="0"/>
              <a:t> </a:t>
            </a:r>
            <a:r>
              <a:rPr dirty="0"/>
              <a:t>emissions</a:t>
            </a:r>
            <a:r>
              <a:rPr spc="70" dirty="0"/>
              <a:t> </a:t>
            </a:r>
            <a:r>
              <a:rPr dirty="0"/>
              <a:t>from</a:t>
            </a:r>
            <a:r>
              <a:rPr spc="175" dirty="0"/>
              <a:t> </a:t>
            </a:r>
            <a:r>
              <a:rPr dirty="0"/>
              <a:t>AI</a:t>
            </a:r>
            <a:r>
              <a:rPr spc="75" dirty="0"/>
              <a:t> </a:t>
            </a:r>
            <a:r>
              <a:rPr spc="-10" dirty="0"/>
              <a:t>infrastructure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687195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Capstone</a:t>
            </a:r>
            <a:r>
              <a:rPr spc="-225" dirty="0"/>
              <a:t> </a:t>
            </a:r>
            <a:r>
              <a:rPr spc="-10" dirty="0"/>
              <a:t>Project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2116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b="1" dirty="0">
                <a:latin typeface="Calibri"/>
                <a:cs typeface="Calibri"/>
              </a:rPr>
              <a:t>Project</a:t>
            </a:r>
            <a:r>
              <a:rPr b="1" spc="6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Title</a:t>
            </a:r>
            <a:r>
              <a:rPr dirty="0"/>
              <a:t>:</a:t>
            </a:r>
            <a:r>
              <a:rPr spc="85" dirty="0"/>
              <a:t> </a:t>
            </a:r>
            <a:r>
              <a:rPr dirty="0"/>
              <a:t>Carbon</a:t>
            </a:r>
            <a:r>
              <a:rPr spc="55" dirty="0"/>
              <a:t> </a:t>
            </a:r>
            <a:r>
              <a:rPr dirty="0"/>
              <a:t>Footprint</a:t>
            </a:r>
            <a:r>
              <a:rPr spc="90" dirty="0"/>
              <a:t> </a:t>
            </a:r>
            <a:r>
              <a:rPr dirty="0"/>
              <a:t>Calculator</a:t>
            </a:r>
            <a:r>
              <a:rPr spc="60" dirty="0"/>
              <a:t> </a:t>
            </a:r>
            <a:r>
              <a:rPr dirty="0"/>
              <a:t>Using</a:t>
            </a:r>
            <a:r>
              <a:rPr spc="95" dirty="0"/>
              <a:t> </a:t>
            </a:r>
            <a:r>
              <a:rPr spc="-10" dirty="0"/>
              <a:t>Python</a:t>
            </a:r>
          </a:p>
          <a:p>
            <a:pPr marL="12700" marR="5080">
              <a:lnSpc>
                <a:spcPct val="113500"/>
              </a:lnSpc>
              <a:spcBef>
                <a:spcPts val="225"/>
              </a:spcBef>
            </a:pPr>
            <a:r>
              <a:rPr b="1" dirty="0">
                <a:latin typeface="Calibri"/>
                <a:cs typeface="Calibri"/>
              </a:rPr>
              <a:t>Problem</a:t>
            </a:r>
            <a:r>
              <a:rPr dirty="0"/>
              <a:t>:</a:t>
            </a:r>
            <a:r>
              <a:rPr spc="95" dirty="0"/>
              <a:t> </a:t>
            </a:r>
            <a:r>
              <a:rPr dirty="0"/>
              <a:t>Calculates</a:t>
            </a:r>
            <a:r>
              <a:rPr spc="50" dirty="0"/>
              <a:t> </a:t>
            </a:r>
            <a:r>
              <a:rPr dirty="0"/>
              <a:t>the</a:t>
            </a:r>
            <a:r>
              <a:rPr spc="125" dirty="0"/>
              <a:t> </a:t>
            </a:r>
            <a:r>
              <a:rPr dirty="0"/>
              <a:t>CO₂</a:t>
            </a:r>
            <a:r>
              <a:rPr spc="20" dirty="0"/>
              <a:t> </a:t>
            </a:r>
            <a:r>
              <a:rPr dirty="0"/>
              <a:t>emissions</a:t>
            </a:r>
            <a:r>
              <a:rPr spc="125" dirty="0"/>
              <a:t> </a:t>
            </a:r>
            <a:r>
              <a:rPr dirty="0"/>
              <a:t>generated</a:t>
            </a:r>
            <a:r>
              <a:rPr spc="65" dirty="0"/>
              <a:t> </a:t>
            </a:r>
            <a:r>
              <a:rPr dirty="0"/>
              <a:t>from</a:t>
            </a:r>
            <a:r>
              <a:rPr spc="65" dirty="0"/>
              <a:t> </a:t>
            </a:r>
            <a:r>
              <a:rPr dirty="0"/>
              <a:t>daily</a:t>
            </a:r>
            <a:r>
              <a:rPr spc="65" dirty="0"/>
              <a:t> </a:t>
            </a:r>
            <a:r>
              <a:rPr spc="-10" dirty="0"/>
              <a:t>activities. </a:t>
            </a:r>
            <a:r>
              <a:rPr b="1" dirty="0">
                <a:latin typeface="Calibri"/>
                <a:cs typeface="Calibri"/>
              </a:rPr>
              <a:t>Objective</a:t>
            </a:r>
            <a:r>
              <a:rPr dirty="0"/>
              <a:t>:</a:t>
            </a:r>
            <a:r>
              <a:rPr spc="130" dirty="0"/>
              <a:t> </a:t>
            </a:r>
            <a:r>
              <a:rPr dirty="0"/>
              <a:t>Develop</a:t>
            </a:r>
            <a:r>
              <a:rPr spc="90" dirty="0"/>
              <a:t> </a:t>
            </a:r>
            <a:r>
              <a:rPr dirty="0"/>
              <a:t>a</a:t>
            </a:r>
            <a:r>
              <a:rPr spc="35" dirty="0"/>
              <a:t> </a:t>
            </a:r>
            <a:r>
              <a:rPr dirty="0"/>
              <a:t>simple</a:t>
            </a:r>
            <a:r>
              <a:rPr spc="70" dirty="0"/>
              <a:t> </a:t>
            </a:r>
            <a:r>
              <a:rPr dirty="0"/>
              <a:t>Python</a:t>
            </a:r>
            <a:r>
              <a:rPr spc="95" dirty="0"/>
              <a:t> </a:t>
            </a:r>
            <a:r>
              <a:rPr dirty="0"/>
              <a:t>application</a:t>
            </a:r>
            <a:r>
              <a:rPr spc="90" dirty="0"/>
              <a:t> </a:t>
            </a:r>
            <a:r>
              <a:rPr dirty="0"/>
              <a:t>to</a:t>
            </a:r>
            <a:r>
              <a:rPr spc="85" dirty="0"/>
              <a:t> </a:t>
            </a:r>
            <a:r>
              <a:rPr dirty="0"/>
              <a:t>estimate</a:t>
            </a:r>
            <a:r>
              <a:rPr spc="75" dirty="0"/>
              <a:t> </a:t>
            </a:r>
            <a:r>
              <a:rPr spc="-10" dirty="0"/>
              <a:t>carbon </a:t>
            </a:r>
            <a:r>
              <a:rPr dirty="0"/>
              <a:t>footprint</a:t>
            </a:r>
            <a:r>
              <a:rPr spc="85" dirty="0"/>
              <a:t> </a:t>
            </a:r>
            <a:r>
              <a:rPr dirty="0"/>
              <a:t>and</a:t>
            </a:r>
            <a:r>
              <a:rPr spc="60" dirty="0"/>
              <a:t> </a:t>
            </a:r>
            <a:r>
              <a:rPr dirty="0"/>
              <a:t>promote</a:t>
            </a:r>
            <a:r>
              <a:rPr spc="120" dirty="0"/>
              <a:t> </a:t>
            </a:r>
            <a:r>
              <a:rPr dirty="0"/>
              <a:t>eco-friendly</a:t>
            </a:r>
            <a:r>
              <a:rPr spc="75" dirty="0"/>
              <a:t> </a:t>
            </a:r>
            <a:r>
              <a:rPr spc="-10" dirty="0"/>
              <a:t>habits.</a:t>
            </a:r>
          </a:p>
          <a:p>
            <a:pPr marL="12700" marR="1019175">
              <a:lnSpc>
                <a:spcPct val="101899"/>
              </a:lnSpc>
              <a:spcBef>
                <a:spcPts val="525"/>
              </a:spcBef>
            </a:pPr>
            <a:r>
              <a:rPr b="1" dirty="0">
                <a:latin typeface="Calibri"/>
                <a:cs typeface="Calibri"/>
              </a:rPr>
              <a:t>Outcome</a:t>
            </a:r>
            <a:r>
              <a:rPr dirty="0"/>
              <a:t>:</a:t>
            </a:r>
            <a:r>
              <a:rPr spc="105" dirty="0"/>
              <a:t> </a:t>
            </a:r>
            <a:r>
              <a:rPr dirty="0"/>
              <a:t>Helps</a:t>
            </a:r>
            <a:r>
              <a:rPr spc="150" dirty="0"/>
              <a:t> </a:t>
            </a:r>
            <a:r>
              <a:rPr dirty="0"/>
              <a:t>users</a:t>
            </a:r>
            <a:r>
              <a:rPr spc="65" dirty="0"/>
              <a:t> </a:t>
            </a:r>
            <a:r>
              <a:rPr dirty="0"/>
              <a:t>reduce</a:t>
            </a:r>
            <a:r>
              <a:rPr spc="145" dirty="0"/>
              <a:t> </a:t>
            </a:r>
            <a:r>
              <a:rPr dirty="0"/>
              <a:t>carbon</a:t>
            </a:r>
            <a:r>
              <a:rPr spc="75" dirty="0"/>
              <a:t> </a:t>
            </a:r>
            <a:r>
              <a:rPr dirty="0"/>
              <a:t>emissions</a:t>
            </a:r>
            <a:r>
              <a:rPr spc="70" dirty="0"/>
              <a:t> </a:t>
            </a:r>
            <a:r>
              <a:rPr dirty="0"/>
              <a:t>and</a:t>
            </a:r>
            <a:r>
              <a:rPr spc="75" dirty="0"/>
              <a:t> </a:t>
            </a:r>
            <a:r>
              <a:rPr spc="-10" dirty="0"/>
              <a:t>supports </a:t>
            </a:r>
            <a:r>
              <a:rPr dirty="0"/>
              <a:t>sustainable</a:t>
            </a:r>
            <a:r>
              <a:rPr spc="105" dirty="0"/>
              <a:t> </a:t>
            </a:r>
            <a:r>
              <a:rPr spc="-10" dirty="0"/>
              <a:t>living.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47925" y="4229036"/>
            <a:ext cx="719137" cy="5953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lides>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AI for Sustainability &amp; Green Skills</vt:lpstr>
      <vt:lpstr>What I Learned</vt:lpstr>
      <vt:lpstr>Learning From Given Resources</vt:lpstr>
      <vt:lpstr>Activities</vt:lpstr>
      <vt:lpstr>Green Skilling &amp; AI</vt:lpstr>
      <vt:lpstr>Capstone Project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for Sustainability &amp; Green Skills</dc:title>
  <cp:lastModifiedBy>prashant patil</cp:lastModifiedBy>
  <cp:revision>1</cp:revision>
  <dcterms:created xsi:type="dcterms:W3CDTF">2026-07-08T09:23:38Z</dcterms:created>
  <dcterms:modified xsi:type="dcterms:W3CDTF">2026-07-08T09:25:16Z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2026-07-06T00:00:00Z</vt:filetime>
  </property>
  <property fmtid="{D5CDD505-2E9C-101B-9397-08002B2CF9AE}" pid="4" name="LastSaved">
    <vt:filetime>2026-07-08T00:00:00Z</vt:filetime>
  </property>
</Properties>
</file>